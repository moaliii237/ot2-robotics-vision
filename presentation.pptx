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3" r:id="rId15"/>
    <p:sldId id="27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41D"/>
                </a:solidFill>
                <a:latin typeface="Georgia"/>
              </a:defRPr>
            </a:pPr>
            <a:r>
              <a:rPr lang="en-US" sz="1300" b="0" i="0" u="none" strike="noStrike">
                <a:solidFill>
                  <a:srgbClr val="16241D"/>
                </a:solidFill>
                <a:latin typeface="Georgia"/>
              </a:rPr>
              <a:t>Median settle time (steps)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Settle</c:v>
                </c:pt>
              </c:strCache>
            </c:strRef>
          </c:tx>
          <c:spPr>
            <a:solidFill>
              <a:srgbClr val="1F6E4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78C-4476-84D0-9EC3C40E72B5}"/>
              </c:ext>
            </c:extLst>
          </c:dPt>
          <c:dPt>
            <c:idx val="1"/>
            <c:invertIfNegative val="0"/>
            <c:bubble3D val="0"/>
            <c:spPr>
              <a:solidFill>
                <a:srgbClr val="2D8A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8C-4476-84D0-9EC3C40E72B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6241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PID</c:v>
                </c:pt>
                <c:pt idx="1">
                  <c:v>RL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</c:v>
                </c:pt>
                <c:pt idx="1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78C-4476-84D0-9EC3C40E72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38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41D"/>
                </a:solidFill>
                <a:latin typeface="Georgia"/>
              </a:defRPr>
            </a:pPr>
            <a:r>
              <a:rPr lang="en-US" sz="1300" b="0" i="0" u="none" strike="noStrike">
                <a:solidFill>
                  <a:srgbClr val="16241D"/>
                </a:solidFill>
                <a:latin typeface="Georgia"/>
              </a:rPr>
              <a:t>Control effort per step (|action|)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Effort</c:v>
                </c:pt>
              </c:strCache>
            </c:strRef>
          </c:tx>
          <c:spPr>
            <a:solidFill>
              <a:srgbClr val="1F6E4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6FC-4345-8999-D07528A2B904}"/>
              </c:ext>
            </c:extLst>
          </c:dPt>
          <c:dPt>
            <c:idx val="1"/>
            <c:invertIfNegative val="0"/>
            <c:bubble3D val="0"/>
            <c:spPr>
              <a:solidFill>
                <a:srgbClr val="2D8A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FC-4345-8999-D07528A2B90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6241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PID</c:v>
                </c:pt>
                <c:pt idx="1">
                  <c:v>RL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0.153</c:v>
                </c:pt>
                <c:pt idx="1">
                  <c:v>0.32500000000000001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FC-4345-8999-D07528A2B9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38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152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23A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D:\Block B Third Retake\presentation\assets\demo_live.gif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331720"/>
            <a:ext cx="4937760" cy="31638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74920" y="12344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9FD3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485" y="1410005"/>
            <a:ext cx="380390" cy="3803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89320" y="1325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 · CREATIVE BRIEF · RETAKE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029200" y="214884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Petri Dish to Pipette</a:t>
            </a:r>
            <a:endParaRPr lang="en-US" sz="4600" dirty="0"/>
          </a:p>
        </p:txBody>
      </p:sp>
      <p:sp>
        <p:nvSpPr>
          <p:cNvPr id="8" name="Text 4"/>
          <p:cNvSpPr/>
          <p:nvPr/>
        </p:nvSpPr>
        <p:spPr>
          <a:xfrm>
            <a:off x="5074920" y="3886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root phenotyping and robotic inoculation, end to end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120640" y="5029200"/>
            <a:ext cx="2926080" cy="0"/>
          </a:xfrm>
          <a:prstGeom prst="line">
            <a:avLst/>
          </a:prstGeom>
          <a:noFill/>
          <a:ln w="25400">
            <a:solidFill>
              <a:srgbClr val="2D8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74920" y="5212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Mohammadali Jaberi</a:t>
            </a:r>
            <a:r>
              <a:rPr lang="en-US" sz="1400" dirty="0">
                <a:solidFill>
                  <a:srgbClr val="8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244437    Breda University of Applied Sciences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60204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· ILO 5.1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81328" y="777240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and treating roots, one seedling at a time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scientists grow seedlings on agar plates, study how the roots develop, then inoculate each root tip with bacteria or compounds, for example to test which genotypes resist disease.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steps are done by hand today: measuring root length off photos, and pipetting onto each tiny tip under a microscope.</a:t>
            </a:r>
            <a:endParaRPr lang="en-US" sz="16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slow, tiring and hard to reproduce, which caps how many plants and conditions a lab can ever screen.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23760" y="1920240"/>
            <a:ext cx="4297680" cy="1188720"/>
          </a:xfrm>
          <a:prstGeom prst="roundRect">
            <a:avLst>
              <a:gd name="adj" fmla="val 6923"/>
            </a:avLst>
          </a:prstGeom>
          <a:solidFill>
            <a:srgbClr val="FBF1D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498080" y="221284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B07A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921" y="2357689"/>
            <a:ext cx="313822" cy="3138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75320" y="2121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07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8275320" y="25786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of microscope work per plant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223760" y="3246120"/>
            <a:ext cx="4297680" cy="1188720"/>
          </a:xfrm>
          <a:prstGeom prst="roundRect">
            <a:avLst>
              <a:gd name="adj" fmla="val 6923"/>
            </a:avLst>
          </a:prstGeom>
          <a:solidFill>
            <a:srgbClr val="F8E7E2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498080" y="353872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B04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921" y="3683569"/>
            <a:ext cx="313822" cy="31382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5320" y="34472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04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8275320" y="39044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placement drifts run to run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223760" y="4572000"/>
            <a:ext cx="4297680" cy="1188720"/>
          </a:xfrm>
          <a:prstGeom prst="roundRect">
            <a:avLst>
              <a:gd name="adj" fmla="val 6923"/>
            </a:avLst>
          </a:prstGeom>
          <a:solidFill>
            <a:srgbClr val="F4F8F3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498080" y="4864608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2921" y="5009449"/>
            <a:ext cx="313822" cy="31382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75320" y="4773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6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scale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8275320" y="5230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hundreds of plants needed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60204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 THE CLIENT · ILO 5.1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81328" y="777240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automation unlocks for plant science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342900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60120" y="24688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5" y="2644445"/>
            <a:ext cx="380390" cy="3803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337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far more plants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60120" y="39776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plate and find every root automatically — throughput jumps from a handful to hundreds per session.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343400" y="2148840"/>
            <a:ext cx="342900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63440" y="24688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005" y="264444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3337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resistant genotypes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63440" y="39776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plants measured means cleaner comparisons between lines, so disease-resistant candidates surface sooner.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046720" y="2148840"/>
            <a:ext cx="342900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366760" y="24688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325" y="2644445"/>
            <a:ext cx="380390" cy="3803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66760" y="3337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 inoculation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366760" y="39776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dispenses on the same spot every time, removing the hand-to-hand variation that muddies results.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1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one scientist can do in an afternoon what used to take a week of microscope time.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60204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· ILO 8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81328" y="777240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pipeline: photo in, inoculated root out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480060" y="2606040"/>
            <a:ext cx="1764792" cy="1828800"/>
          </a:xfrm>
          <a:prstGeom prst="roundRect">
            <a:avLst>
              <a:gd name="adj" fmla="val 5181"/>
            </a:avLst>
          </a:prstGeom>
          <a:solidFill>
            <a:srgbClr val="F4F8F3"/>
          </a:solidFill>
          <a:ln w="15875">
            <a:solidFill>
              <a:srgbClr val="1F6E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42416" y="2862072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35" y="3015691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3212" y="359359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53212" y="39776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plate image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217420" y="317296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C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2372868" y="2606040"/>
            <a:ext cx="1764792" cy="1828800"/>
          </a:xfrm>
          <a:prstGeom prst="roundRect">
            <a:avLst>
              <a:gd name="adj" fmla="val 5181"/>
            </a:avLst>
          </a:prstGeom>
          <a:solidFill>
            <a:srgbClr val="F4F8F3"/>
          </a:solidFill>
          <a:ln w="15875">
            <a:solidFill>
              <a:srgbClr val="1F6E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935224" y="2862072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8843" y="3015691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46020" y="359359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roots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2446020" y="39776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segments roots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110228" y="317296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C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4265676" y="2606040"/>
            <a:ext cx="1764792" cy="1828800"/>
          </a:xfrm>
          <a:prstGeom prst="roundRect">
            <a:avLst>
              <a:gd name="adj" fmla="val 5181"/>
            </a:avLst>
          </a:prstGeom>
          <a:solidFill>
            <a:srgbClr val="F4F8F3"/>
          </a:solidFill>
          <a:ln w="15875">
            <a:solidFill>
              <a:srgbClr val="1F6E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28032" y="2862072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1651" y="3015691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38828" y="359359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tip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338828" y="39776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of each tip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003036" y="317296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C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6158484" y="2606040"/>
            <a:ext cx="1764792" cy="1828800"/>
          </a:xfrm>
          <a:prstGeom prst="roundRect">
            <a:avLst>
              <a:gd name="adj" fmla="val 5181"/>
            </a:avLst>
          </a:prstGeom>
          <a:solidFill>
            <a:srgbClr val="EAF4F7"/>
          </a:solidFill>
          <a:ln w="15875">
            <a:solidFill>
              <a:srgbClr val="2D8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720840" y="2862072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4459" y="301569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31636" y="359359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231636" y="39776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→ robot mm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7895844" y="317296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C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2200" dirty="0"/>
          </a:p>
        </p:txBody>
      </p:sp>
      <p:sp>
        <p:nvSpPr>
          <p:cNvPr id="30" name="Shape 23"/>
          <p:cNvSpPr/>
          <p:nvPr/>
        </p:nvSpPr>
        <p:spPr>
          <a:xfrm>
            <a:off x="8051292" y="2606040"/>
            <a:ext cx="1764792" cy="1828800"/>
          </a:xfrm>
          <a:prstGeom prst="roundRect">
            <a:avLst>
              <a:gd name="adj" fmla="val 5181"/>
            </a:avLst>
          </a:prstGeom>
          <a:solidFill>
            <a:srgbClr val="EAF4F7"/>
          </a:solidFill>
          <a:ln w="15875">
            <a:solidFill>
              <a:srgbClr val="2D8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613648" y="2862072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7267" y="3015691"/>
            <a:ext cx="332842" cy="33284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24444" y="359359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OT-2 robot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124444" y="39776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or RL drives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9788652" y="317296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C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2200" dirty="0"/>
          </a:p>
        </p:txBody>
      </p:sp>
      <p:sp>
        <p:nvSpPr>
          <p:cNvPr id="36" name="Shape 28"/>
          <p:cNvSpPr/>
          <p:nvPr/>
        </p:nvSpPr>
        <p:spPr>
          <a:xfrm>
            <a:off x="9944100" y="2606040"/>
            <a:ext cx="1764792" cy="1828800"/>
          </a:xfrm>
          <a:prstGeom prst="roundRect">
            <a:avLst>
              <a:gd name="adj" fmla="val 5181"/>
            </a:avLst>
          </a:prstGeom>
          <a:solidFill>
            <a:srgbClr val="EEF7E1"/>
          </a:solidFill>
          <a:ln w="15875">
            <a:solidFill>
              <a:srgbClr val="5E9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10506456" y="2862072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5E9E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0075" y="3015691"/>
            <a:ext cx="332842" cy="33284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017252" y="359359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Inoculate</a:t>
            </a:r>
            <a:endParaRPr lang="en-US" sz="1450" dirty="0"/>
          </a:p>
        </p:txBody>
      </p:sp>
      <p:sp>
        <p:nvSpPr>
          <p:cNvPr id="40" name="Text 31"/>
          <p:cNvSpPr/>
          <p:nvPr/>
        </p:nvSpPr>
        <p:spPr>
          <a:xfrm>
            <a:off x="10017252" y="39776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droplet on tip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640080" y="49834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halves: </a:t>
            </a:r>
            <a:r>
              <a:rPr lang="en-US" sz="1500" b="1" dirty="0">
                <a:solidFill>
                  <a:srgbClr val="1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r>
              <a:rPr lang="en-US" sz="15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finds the targets, </a:t>
            </a:r>
            <a:r>
              <a:rPr lang="en-US" sz="1500" b="1" dirty="0">
                <a:solidFill>
                  <a:srgbClr val="2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r>
              <a:rPr lang="en-US" sz="15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hits them. Calibration is the bridge between a pixel and a millimetre.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60204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ILO 6.4 · TASKS 2–3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81328" y="777240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CV: crop the dish, separate the plants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34924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D:\Block B Third Retake\presentation\assets\cv_dish_raw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2194560"/>
            <a:ext cx="5074920" cy="3246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4864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petri dish cropped from the raw image (threshold + contours)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355080" y="2057400"/>
            <a:ext cx="516636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D:\Block B Third Retake\presentation\assets\cv_task3_instance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92240" y="2194560"/>
            <a:ext cx="4892040" cy="32461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55080" y="54864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the five plants separated as instances, no deep learning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40080" y="16276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image processing first, as the brief asks — enough to isolate the working area before any model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60204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ILO 8.5 · TASKS 5 &amp; 8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81328" y="777240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learning: a U-Net that segments roots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66928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D:\Block B Third Retake\presentation\assets\cv_unet_predic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2240280"/>
            <a:ext cx="539496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4132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U-Net root mask predicted on a test plate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675120" y="2057400"/>
            <a:ext cx="4846320" cy="3657600"/>
          </a:xfrm>
          <a:prstGeom prst="roundRect">
            <a:avLst>
              <a:gd name="adj" fmla="val 2250"/>
            </a:avLst>
          </a:prstGeom>
          <a:solidFill>
            <a:srgbClr val="F4F8F3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995160" y="233172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3168" y="2489728"/>
            <a:ext cx="342351" cy="3423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18120" y="22860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6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= 0.877</a:t>
            </a:r>
            <a:endParaRPr lang="en-US" sz="3400" dirty="0"/>
          </a:p>
        </p:txBody>
      </p:sp>
      <p:sp>
        <p:nvSpPr>
          <p:cNvPr id="13" name="Text 8"/>
          <p:cNvSpPr/>
          <p:nvPr/>
        </p:nvSpPr>
        <p:spPr>
          <a:xfrm>
            <a:off x="6995160" y="3154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score of the root U-Net (Task 5)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995160" y="3657600"/>
            <a:ext cx="4206240" cy="0"/>
          </a:xfrm>
          <a:prstGeom prst="line">
            <a:avLst/>
          </a:prstGeom>
          <a:noFill/>
          <a:ln w="12700">
            <a:solidFill>
              <a:srgbClr val="E4E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995160" y="38404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— full Kaggle pipeline: 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crop → U-Net → skeletonise the root system → measure primary-root length for every plant.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99516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tip coordinates feed straight into the robot.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60204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· ILO 8.6A · TASK 9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81328" y="777240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robot and learn its reach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02920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D:\Block B Third Retake\presentation\assets\t9_corner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2240280"/>
            <a:ext cx="4754880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577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the pipette to the corners of the workspace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89320" y="22860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OT-2 is a real 3-axis pipetting robot (here, its digital twin). Before controlling it, I mapped what it can actually reach.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5989320" y="365760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EAF4F7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263640" y="3950208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259" y="4103827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393192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4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 of the 8 workspace corners are reachable — the chassis floor blocks the lowest layer.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989320" y="5166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later task targets a practical envelope, not the full box. Saved a lot of failed runs.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60204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· ILO 8.6B · TASK 10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81328" y="777240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control: a PID tuned from physics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76072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D:\Block B Third Retake\presentation\assets\t10_im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2194560"/>
            <a:ext cx="5486400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5321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Step-response fit (system ID) → SIMC tuning rule → PID gains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537960" y="224028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5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guessing gains, I measured how each axis responds, fit a first-order model, and computed the PID directly with the SIMC rule.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537960" y="3886200"/>
            <a:ext cx="4983480" cy="1874520"/>
          </a:xfrm>
          <a:prstGeom prst="roundRect">
            <a:avLst>
              <a:gd name="adj" fmla="val 4390"/>
            </a:avLst>
          </a:prstGeom>
          <a:solidFill>
            <a:srgbClr val="F4F8F3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858000" y="420624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6008" y="4364248"/>
            <a:ext cx="342351" cy="3423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80960" y="4114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sub-micron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6858000" y="49834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error in simulation (0.3 µm) — far inside the 1 mm spec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60204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· ILO 8.6C · TASK 11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81328" y="777240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learning: a policy that learns to aim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493776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D:\Block B Third Retake\presentation\assets\t11_r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2240280"/>
            <a:ext cx="4663440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5778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policy steering the pipette to a target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897880" y="228600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PPO agent learns control purely from trial and reward — no physics model handed to it.</a:t>
            </a:r>
            <a:endParaRPr lang="en-US" sz="15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design was the whole game: three proximity wells at 10 mm, 0.3 mm and 0.05 mm pull it from coarse approach down to sub-millimetre.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897880" y="4572000"/>
            <a:ext cx="5669280" cy="1371600"/>
          </a:xfrm>
          <a:prstGeom prst="roundRect">
            <a:avLst>
              <a:gd name="adj" fmla="val 6000"/>
            </a:avLst>
          </a:prstGeom>
          <a:solidFill>
            <a:srgbClr val="EAF4F7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199632" y="4864608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251" y="5018227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22592" y="47365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/ 60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8869680" y="49560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targets hit under 1 mm (trained policy)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60204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· ILO 8.6D · TASK 12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81328" y="777240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it together: see a root, hit a root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03504" y="1975104"/>
            <a:ext cx="6967728" cy="3895344"/>
          </a:xfrm>
          <a:prstGeom prst="roundRect">
            <a:avLst>
              <a:gd name="adj" fmla="val 1878"/>
            </a:avLst>
          </a:prstGeom>
          <a:solidFill>
            <a:srgbClr val="0B2419"/>
          </a:solidFill>
          <a:ln/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D:\Block B Third Retake\presentation\assets\demo_live.gif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" y="2066544"/>
            <a:ext cx="6766560" cy="3712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943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3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plays live in slideshow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81812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autonomous loop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818120" y="260604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9794" y="27377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3920" y="258775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finds each primary-root tip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7818120" y="344728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9794" y="3578962"/>
            <a:ext cx="285293" cy="2852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03920" y="34290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turns the tip pixel into robot mm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818120" y="4288536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9794" y="4420210"/>
            <a:ext cx="285293" cy="28529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03920" y="42702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drives there and dispenses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7818120" y="512978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9794" y="5261458"/>
            <a:ext cx="285293" cy="28529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503920" y="511149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all five plants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60204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 · ILO 8.6D · TASK 13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81328" y="777240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PID vs RL across 19 dishes, 82 root tips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F4F8F3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14400" y="24323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&lt; 1 mm — both controllers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F4F8F3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61772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sub-µm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617720" y="24323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median error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0" y="1783080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F4F8F3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32104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0.47 mm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321040" y="24323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median error</a:t>
            </a:r>
            <a:endParaRPr lang="en-US" sz="11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40080" y="3108960"/>
          <a:ext cx="52120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"/>
          <p:cNvGraphicFramePr/>
          <p:nvPr/>
        </p:nvGraphicFramePr>
        <p:xfrm>
          <a:off x="6355080" y="3108960"/>
          <a:ext cx="52120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 12"/>
          <p:cNvSpPr/>
          <p:nvPr/>
        </p:nvSpPr>
        <p:spPr>
          <a:xfrm>
            <a:off x="640080" y="57150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meet the spec under a fair test (same start, same horizon). </a:t>
            </a:r>
            <a:r>
              <a:rPr lang="en-US" sz="13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wins on raw precision because it has a plant model; RL needs no model and still clears 1 mm on every tip — at a bit more effort.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4688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9FD3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2644445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25786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FD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&amp; ITERATION · ILO 2.6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fixes that actually moved the numbers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what broke, what I changed, and the before / after.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60204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81328" y="777240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took as given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30352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60120" y="269748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128" y="2855488"/>
            <a:ext cx="342351" cy="3423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514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plants per dish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28800" y="29900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keeps the five largest root blobs, ordered left to right.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2240280"/>
            <a:ext cx="530352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583680" y="269748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688" y="2855488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2360" y="2514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dish geometry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52360" y="29900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plate is a fixed 150 mm square at a known spot on the deck.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069080"/>
            <a:ext cx="530352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60120" y="452628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128" y="4684288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343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Idealised specimen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828800" y="48188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sim the plant is a flat target — no occlusion, condensation or 3-D roots.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263640" y="4069080"/>
            <a:ext cx="530352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583680" y="452628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F6E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1688" y="4684288"/>
            <a:ext cx="342351" cy="34235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52360" y="4343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Hover-and-drop dispense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452360" y="48188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pipette inoculates from just above the agar, not by touching it.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" y="60204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75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· ILO 8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81328" y="777240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I'd take it next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303520" cy="1627632"/>
          </a:xfrm>
          <a:prstGeom prst="roundRect">
            <a:avLst>
              <a:gd name="adj" fmla="val 5056"/>
            </a:avLst>
          </a:prstGeom>
          <a:solidFill>
            <a:srgbClr val="EAF4F7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60120" y="269748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128" y="2855488"/>
            <a:ext cx="342351" cy="3423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514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shoot model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28800" y="29900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shoots too, so plant localisation no longer depends on the root mask alone.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2240280"/>
            <a:ext cx="5303520" cy="1627632"/>
          </a:xfrm>
          <a:prstGeom prst="roundRect">
            <a:avLst>
              <a:gd name="adj" fmla="val 5056"/>
            </a:avLst>
          </a:prstGeom>
          <a:solidFill>
            <a:srgbClr val="EAF4F7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583680" y="269748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688" y="2855488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2360" y="2514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controller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52360" y="29900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for the fast coarse approach, hand off to PID for the final sub-mm settle.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069080"/>
            <a:ext cx="5303520" cy="1627632"/>
          </a:xfrm>
          <a:prstGeom prst="roundRect">
            <a:avLst>
              <a:gd name="adj" fmla="val 5056"/>
            </a:avLst>
          </a:prstGeom>
          <a:solidFill>
            <a:srgbClr val="EAF4F7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60120" y="452628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128" y="4684288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343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Tighter RL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828800" y="48188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 against a 0.5 mm target; early signs suggest it can roughly halve its error.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263640" y="4069080"/>
            <a:ext cx="5303520" cy="1627632"/>
          </a:xfrm>
          <a:prstGeom prst="roundRect">
            <a:avLst>
              <a:gd name="adj" fmla="val 5056"/>
            </a:avLst>
          </a:prstGeom>
          <a:solidFill>
            <a:srgbClr val="EAF4F7"/>
          </a:solidFill>
          <a:ln w="12700">
            <a:solidFill>
              <a:srgbClr val="E4ECE6"/>
            </a:solidFill>
            <a:prstDash val="solid"/>
          </a:ln>
          <a:effectLst>
            <a:outerShdw blurRad="114300" dist="38100" dir="8100000" algn="bl" rotWithShape="0">
              <a:srgbClr val="0B2419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583680" y="452628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2D8A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1688" y="4684288"/>
            <a:ext cx="342351" cy="34235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52360" y="4343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hardware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452360" y="48188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Re-calibrate on a physical OT-2 and switch to a touch-dispense at the agar.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5156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9FD3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120517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11612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D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17830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camera finds every root tip, and the robot inoculates all of them — autonomously, under a millimetre.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3657600"/>
            <a:ext cx="3108960" cy="0"/>
          </a:xfrm>
          <a:prstGeom prst="line">
            <a:avLst/>
          </a:prstGeom>
          <a:noFill/>
          <a:ln w="19050">
            <a:solidFill>
              <a:srgbClr val="234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FD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hit &lt; 1 mm (PID &amp; RL, 82 tips)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3657600"/>
            <a:ext cx="3108960" cy="0"/>
          </a:xfrm>
          <a:prstGeom prst="line">
            <a:avLst/>
          </a:prstGeom>
          <a:noFill/>
          <a:ln w="19050">
            <a:solidFill>
              <a:srgbClr val="234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97680" y="3794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FD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0.877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297680" y="4617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root-segmentation F1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55280" y="3657600"/>
            <a:ext cx="3108960" cy="0"/>
          </a:xfrm>
          <a:prstGeom prst="line">
            <a:avLst/>
          </a:prstGeom>
          <a:noFill/>
          <a:ln w="19050">
            <a:solidFill>
              <a:srgbClr val="234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955280" y="3794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FD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of 5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7955280" y="4617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found per dish after the fix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Mohammadali Jaberi</a:t>
            </a:r>
            <a:r>
              <a:rPr lang="en-US" sz="1400" dirty="0">
                <a:solidFill>
                  <a:srgbClr val="8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244437    Thank you —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1118</Words>
  <Application>Microsoft Office PowerPoint</Application>
  <PresentationFormat>Widescreen</PresentationFormat>
  <Paragraphs>142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Root Phenotyping &amp; Robotic Inoculation</dc:title>
  <dc:subject>PptxGenJS Presentation</dc:subject>
  <dc:creator>Mohammadali Jaberi</dc:creator>
  <cp:lastModifiedBy>Mohammadali Jaberi</cp:lastModifiedBy>
  <cp:revision>3</cp:revision>
  <dcterms:created xsi:type="dcterms:W3CDTF">2026-05-30T20:53:27Z</dcterms:created>
  <dcterms:modified xsi:type="dcterms:W3CDTF">2026-06-01T10:51:54Z</dcterms:modified>
</cp:coreProperties>
</file>